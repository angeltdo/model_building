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3" r:id="rId4"/>
    <p:sldId id="264" r:id="rId5"/>
    <p:sldId id="260" r:id="rId6"/>
    <p:sldId id="257" r:id="rId7"/>
    <p:sldId id="258" r:id="rId8"/>
    <p:sldId id="259" r:id="rId9"/>
    <p:sldId id="265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4" d="100"/>
          <a:sy n="104" d="100"/>
        </p:scale>
        <p:origin x="87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64AB3-D526-30EF-C1F1-3B92049692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C2E007-5764-74A3-4181-A688B6B1A4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CADFD-3C44-A96B-7552-7112F6598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2096C-B0C7-4437-84B7-EAC45924E2F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19E46-94CF-7D87-142F-4EA365193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C8A0F-DB93-4D0F-6E83-E91B8A1C4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E597-E1DF-402A-A4D2-B4D903E28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521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43AB9-5F62-390D-05C1-B8A8410EE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1D593-E1FF-2027-1F8F-56A217A00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6D635-767F-869C-587A-017A6A958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2096C-B0C7-4437-84B7-EAC45924E2F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C24CB-A490-D50F-4C94-21DD0D95C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DDBFF-8D3D-D949-9688-F2F3DC77D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E597-E1DF-402A-A4D2-B4D903E28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77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0C92F-F49C-CDD4-827C-87837D2D0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302E59-9AD5-E6F5-BC9E-7AC556AFE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07F02-5409-7BDA-5A4F-564031818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2096C-B0C7-4437-84B7-EAC45924E2F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9CFCC-F0AD-F672-F961-105D11F9E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DFE3D1-DD2A-A169-4716-A41226D73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E597-E1DF-402A-A4D2-B4D903E28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76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CB5EF-528D-9414-8969-F95F033B7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AB91E-215F-3AF8-B62B-00AC7112AF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916B4C-EB8E-2664-7E38-969331183C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B33109-BFB5-AFC3-BC2E-53830BB58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2096C-B0C7-4437-84B7-EAC45924E2F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A6B56-C88F-8723-9DAA-102BABD08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6333F9-E25C-FB6D-89CB-AAA079ECA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E597-E1DF-402A-A4D2-B4D903E28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883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B70FD-562D-D184-465B-FE277611B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B2317A-1394-3495-4ED6-209AD5978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67109-D38D-B6A1-D3AF-53721B083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385034-46FB-0618-D034-C4CF967FB8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FD36C1-FCBC-DAD2-87B8-780BE34644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0EE0BA-ECC6-32FE-C8E8-7A61F52E5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2096C-B0C7-4437-84B7-EAC45924E2F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EF4886-FB14-B940-1894-A6516A13F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E587F1-B0F7-063E-15DA-E5769B7B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E597-E1DF-402A-A4D2-B4D903E28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707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07030-2E6F-0991-A61F-5B76FA520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F9AB2C-B106-8EB5-548A-A8E0FB219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2096C-B0C7-4437-84B7-EAC45924E2F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F80AD0-26B6-9B20-A37C-1CE8E1E24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BD7058-752F-59AD-9B9A-77D66EF3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E597-E1DF-402A-A4D2-B4D903E28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979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81FB8E-6F1C-A997-531B-F283C40DE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2096C-B0C7-4437-84B7-EAC45924E2F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D72422-5CA8-AD10-37D8-B3B8CB352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7A4FC-2E05-1F65-2F06-DE2986327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E597-E1DF-402A-A4D2-B4D903E28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246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6DBB9-2819-9D80-D92B-D7293CB05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25413-4DAB-3D84-8099-D651182E3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F9907D-4A7A-9456-55BE-564F60CDC7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CA2895-C0DC-D368-FC0B-410272909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2096C-B0C7-4437-84B7-EAC45924E2F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C309CE-8557-20CE-A7DE-DC80D5A8D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D79A54-75EE-4709-8BD7-EB0948AC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E597-E1DF-402A-A4D2-B4D903E28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586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0CEC3-4FF9-FD12-A2EF-1351FC7E4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BB3060-2DF0-88EA-012E-73D56BD87C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22F433-6E9D-D7A1-8389-6F0CC19522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A9013-EF59-CFCD-4DB2-8B33DF514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2096C-B0C7-4437-84B7-EAC45924E2F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BE8A4E-A152-749A-6BD8-8745BE505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459450-8167-896D-6A4B-59033D2DC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E597-E1DF-402A-A4D2-B4D903E28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945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7E0AF-0A22-9533-BDEA-261F9FFF8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5400D4-5D4E-C222-93B8-86DDA82CB0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E4130-4948-FC94-1D80-703FD5DDF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2096C-B0C7-4437-84B7-EAC45924E2F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43F53-A652-72E4-F363-126BDE791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108D5-68B8-7CA0-46CB-373BF38EF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E597-E1DF-402A-A4D2-B4D903E28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992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470A6C-952B-F0F0-AF1B-238776DD90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480794-616D-48E5-14DF-F7106E2B4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5B7B7-FDF8-836B-CA53-D2D7E607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2096C-B0C7-4437-84B7-EAC45924E2F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2DED7-6CC3-62C1-8E71-35900E5AF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CEAEE-E675-8629-6D40-BD282200E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E597-E1DF-402A-A4D2-B4D903E28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340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FC3984-67D6-67A3-30F3-BB7816F4A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403C9E-DC5F-298B-9BE4-BA47FDD8C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B789A-BBF3-63D2-5D9C-B9366B1DE4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A2096C-B0C7-4437-84B7-EAC45924E2FC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FD867-63B5-801D-B5F7-4DDD61D376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D0772-364F-061F-1E81-4FED831CBB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3DE597-E1DF-402A-A4D2-B4D903E28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6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EEB97-8408-BC51-C99A-1C2ABFA869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MODEL BUILDING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FF8EE3-84C2-531A-1182-43D2BE651C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0366"/>
            <a:ext cx="9144000" cy="1655762"/>
          </a:xfrm>
        </p:spPr>
        <p:txBody>
          <a:bodyPr/>
          <a:lstStyle/>
          <a:p>
            <a:r>
              <a:rPr lang="en-US" dirty="0"/>
              <a:t>ANGEL THU DO</a:t>
            </a:r>
          </a:p>
        </p:txBody>
      </p:sp>
    </p:spTree>
    <p:extLst>
      <p:ext uri="{BB962C8B-B14F-4D97-AF65-F5344CB8AC3E}">
        <p14:creationId xmlns:p14="http://schemas.microsoft.com/office/powerpoint/2010/main" val="3494134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F2C6E-60A4-6E9E-026B-074ED8686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7D0D3-FF4F-D78C-C5CE-A2FEAB17C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 target variable is influenced by three key target variables:</a:t>
            </a:r>
          </a:p>
          <a:p>
            <a:pPr lvl="1"/>
            <a:r>
              <a:rPr lang="en-US" dirty="0"/>
              <a:t>Account Quality: Captured by 19 predictor variables (P1-P19)</a:t>
            </a:r>
          </a:p>
          <a:p>
            <a:pPr lvl="1"/>
            <a:r>
              <a:rPr lang="en-US" dirty="0"/>
              <a:t>Seasonal Effect: Increased target rate in January and February</a:t>
            </a:r>
          </a:p>
          <a:p>
            <a:pPr lvl="1"/>
            <a:r>
              <a:rPr lang="en-US" dirty="0"/>
              <a:t>Macroeconomic Trends: Time-varying effects on target rate</a:t>
            </a:r>
          </a:p>
          <a:p>
            <a:r>
              <a:rPr lang="en-US" sz="2400" dirty="0"/>
              <a:t>Five different models are built and trained: Logistic Regression, Random Forest, Histogram-based Gradient Boosting (</a:t>
            </a:r>
            <a:r>
              <a:rPr lang="en-US" sz="2400" dirty="0" err="1"/>
              <a:t>HistGradientBoosting</a:t>
            </a:r>
            <a:r>
              <a:rPr lang="en-US" sz="2400" dirty="0"/>
              <a:t>), </a:t>
            </a:r>
            <a:r>
              <a:rPr lang="en-US" sz="2400" dirty="0" err="1"/>
              <a:t>LightGBM</a:t>
            </a:r>
            <a:r>
              <a:rPr lang="en-US" sz="2400" dirty="0"/>
              <a:t>, and </a:t>
            </a:r>
            <a:r>
              <a:rPr lang="en-US" sz="2400" dirty="0" err="1"/>
              <a:t>XGBoost</a:t>
            </a:r>
            <a:r>
              <a:rPr lang="en-US" sz="2400" dirty="0"/>
              <a:t>. </a:t>
            </a:r>
          </a:p>
          <a:p>
            <a:r>
              <a:rPr lang="en-US" sz="2400" dirty="0" err="1"/>
              <a:t>XGBoost</a:t>
            </a:r>
            <a:r>
              <a:rPr lang="en-US" sz="2400" dirty="0"/>
              <a:t> is the best model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766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545C0-339F-684F-E117-6170FD3F4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165B4-2965-F23C-CB68-4DF0D18BD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BEF23-8A0D-964F-745B-5E66608CE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/>
              <a:t>1. Problem Type</a:t>
            </a:r>
          </a:p>
          <a:p>
            <a:pPr lvl="1"/>
            <a:r>
              <a:rPr lang="en-US" sz="2200" dirty="0"/>
              <a:t>Binary classification: Predict the binary response variable target.</a:t>
            </a:r>
          </a:p>
          <a:p>
            <a:pPr marL="0" indent="0">
              <a:buNone/>
            </a:pPr>
            <a:r>
              <a:rPr lang="en-US" sz="2200" b="1" dirty="0"/>
              <a:t>2. Data Handling</a:t>
            </a:r>
          </a:p>
          <a:p>
            <a:pPr lvl="1"/>
            <a:r>
              <a:rPr lang="en-US" sz="2200" dirty="0"/>
              <a:t>Data Merge: 6 CSV files merged into a single dataset.</a:t>
            </a:r>
          </a:p>
          <a:p>
            <a:pPr lvl="1"/>
            <a:r>
              <a:rPr lang="en-US" sz="2200" dirty="0"/>
              <a:t>Temporal Split:</a:t>
            </a:r>
          </a:p>
          <a:p>
            <a:pPr lvl="2"/>
            <a:r>
              <a:rPr lang="en-US" sz="2200" dirty="0"/>
              <a:t>Build set (</a:t>
            </a:r>
            <a:r>
              <a:rPr lang="en-US" sz="2200" dirty="0" err="1"/>
              <a:t>Date_ym</a:t>
            </a:r>
            <a:r>
              <a:rPr lang="en-US" sz="2200" dirty="0"/>
              <a:t> &lt; 2022-05) → train (80%) / validation (20%)</a:t>
            </a:r>
          </a:p>
          <a:p>
            <a:pPr lvl="2"/>
            <a:r>
              <a:rPr lang="en-US" sz="2200" dirty="0"/>
              <a:t>Hold-out set (</a:t>
            </a:r>
            <a:r>
              <a:rPr lang="en-US" sz="2200" dirty="0" err="1"/>
              <a:t>Date_ym</a:t>
            </a:r>
            <a:r>
              <a:rPr lang="en-US" sz="2200" dirty="0"/>
              <a:t> &gt;= 2022-05) → test set → final evaluation</a:t>
            </a:r>
          </a:p>
          <a:p>
            <a:pPr lvl="1"/>
            <a:r>
              <a:rPr lang="en-US" sz="2200" dirty="0"/>
              <a:t>Segmented evaluation: Performance analyzed per segment S and over time (</a:t>
            </a:r>
            <a:r>
              <a:rPr lang="en-US" sz="2200" dirty="0" err="1"/>
              <a:t>Date_ym</a:t>
            </a:r>
            <a:r>
              <a:rPr lang="en-US" sz="2200" dirty="0"/>
              <a:t>).</a:t>
            </a:r>
          </a:p>
          <a:p>
            <a:pPr marL="0" indent="0">
              <a:buNone/>
            </a:pPr>
            <a:r>
              <a:rPr lang="en-US" sz="2200" b="1" dirty="0"/>
              <a:t>3. Feature Engineering</a:t>
            </a:r>
          </a:p>
          <a:p>
            <a:pPr lvl="1"/>
            <a:r>
              <a:rPr lang="en-US" sz="2200" dirty="0"/>
              <a:t>Predictor features: P1–P19 (account/macro variables)</a:t>
            </a:r>
          </a:p>
          <a:p>
            <a:pPr lvl="1"/>
            <a:r>
              <a:rPr lang="en-US" sz="2200" dirty="0"/>
              <a:t>Temporal features: year, month, quarter, </a:t>
            </a:r>
            <a:r>
              <a:rPr lang="en-US" sz="2200" dirty="0" err="1"/>
              <a:t>day_of_year</a:t>
            </a:r>
            <a:endParaRPr lang="en-US" sz="2200" dirty="0"/>
          </a:p>
          <a:p>
            <a:pPr lvl="1"/>
            <a:r>
              <a:rPr lang="en-US" sz="2200" dirty="0"/>
              <a:t>Seasonal features: </a:t>
            </a:r>
            <a:r>
              <a:rPr lang="en-US" sz="2200" dirty="0" err="1"/>
              <a:t>is_jan</a:t>
            </a:r>
            <a:r>
              <a:rPr lang="en-US" sz="2200" dirty="0"/>
              <a:t>, </a:t>
            </a:r>
            <a:r>
              <a:rPr lang="en-US" sz="2200" dirty="0" err="1"/>
              <a:t>is_feb</a:t>
            </a:r>
            <a:r>
              <a:rPr lang="en-US" sz="2200" dirty="0"/>
              <a:t>, </a:t>
            </a:r>
            <a:r>
              <a:rPr lang="en-US" sz="2200" dirty="0" err="1"/>
              <a:t>is_jan_feb</a:t>
            </a:r>
            <a:endParaRPr lang="en-US" sz="2200" dirty="0"/>
          </a:p>
          <a:p>
            <a:pPr lvl="1"/>
            <a:r>
              <a:rPr lang="en-US" sz="2200" dirty="0"/>
              <a:t>Cyclical encoding: </a:t>
            </a:r>
            <a:r>
              <a:rPr lang="en-US" sz="2200" dirty="0" err="1"/>
              <a:t>month_sin</a:t>
            </a:r>
            <a:r>
              <a:rPr lang="en-US" sz="2200" dirty="0"/>
              <a:t>, </a:t>
            </a:r>
            <a:r>
              <a:rPr lang="en-US" sz="2200" dirty="0" err="1"/>
              <a:t>month_cos</a:t>
            </a:r>
            <a:r>
              <a:rPr lang="en-US" sz="2200" dirty="0"/>
              <a:t> to capture seasonal cycles</a:t>
            </a:r>
          </a:p>
          <a:p>
            <a:pPr lvl="1"/>
            <a:r>
              <a:rPr lang="en-US" sz="2200" dirty="0"/>
              <a:t>Time trend: </a:t>
            </a:r>
            <a:r>
              <a:rPr lang="en-US" sz="2200" dirty="0" err="1"/>
              <a:t>months_since_start</a:t>
            </a:r>
            <a:r>
              <a:rPr lang="en-US" sz="2200" dirty="0"/>
              <a:t> to capture temporal evolution</a:t>
            </a:r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685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6ACDD-4076-2F40-EBBF-E2A2E68F6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DAEC7-4795-BCCB-7D6F-34EF13F17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APPROACH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6819E-E9DD-A4F3-3B37-C61E1F23A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16920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4500" b="1" dirty="0"/>
              <a:t>4. Modeling Pipeline</a:t>
            </a:r>
          </a:p>
          <a:p>
            <a:pPr marL="457200" lvl="1" indent="0">
              <a:buNone/>
            </a:pPr>
            <a:r>
              <a:rPr lang="en-US" sz="4500" dirty="0"/>
              <a:t>1. Preprocessing: Scale features if needed (Logistic Regression uses </a:t>
            </a:r>
            <a:r>
              <a:rPr lang="en-US" sz="4500" dirty="0" err="1"/>
              <a:t>StandardScaler</a:t>
            </a:r>
            <a:r>
              <a:rPr lang="en-US" sz="4500" dirty="0"/>
              <a:t>).</a:t>
            </a:r>
          </a:p>
          <a:p>
            <a:pPr marL="457200" lvl="1" indent="0">
              <a:buNone/>
            </a:pPr>
            <a:r>
              <a:rPr lang="en-US" sz="4500" dirty="0"/>
              <a:t>2. Model Training: Five models trained independently:</a:t>
            </a:r>
          </a:p>
          <a:p>
            <a:pPr lvl="2"/>
            <a:r>
              <a:rPr lang="en-US" sz="4500" dirty="0"/>
              <a:t>Logistic Regression</a:t>
            </a:r>
          </a:p>
          <a:p>
            <a:pPr lvl="2"/>
            <a:r>
              <a:rPr lang="en-US" sz="4500" dirty="0"/>
              <a:t>Random Forest</a:t>
            </a:r>
          </a:p>
          <a:p>
            <a:pPr lvl="2"/>
            <a:r>
              <a:rPr lang="en-US" sz="4500" dirty="0" err="1"/>
              <a:t>HistGradientBoosting</a:t>
            </a:r>
            <a:endParaRPr lang="en-US" sz="4500" dirty="0"/>
          </a:p>
          <a:p>
            <a:pPr lvl="2"/>
            <a:r>
              <a:rPr lang="en-US" sz="4500" dirty="0" err="1"/>
              <a:t>LightGBM</a:t>
            </a:r>
            <a:endParaRPr lang="en-US" sz="4500" dirty="0"/>
          </a:p>
          <a:p>
            <a:pPr lvl="2"/>
            <a:r>
              <a:rPr lang="en-US" sz="4500" dirty="0" err="1"/>
              <a:t>XGBoost</a:t>
            </a:r>
            <a:endParaRPr lang="en-US" sz="4500" dirty="0"/>
          </a:p>
          <a:p>
            <a:pPr marL="457200" lvl="1" indent="0">
              <a:buNone/>
            </a:pPr>
            <a:r>
              <a:rPr lang="en-US" sz="4500" dirty="0"/>
              <a:t>3. Validation: Early stopping for boosting models to prevent overfitting.</a:t>
            </a:r>
          </a:p>
          <a:p>
            <a:pPr marL="457200" lvl="1" indent="0">
              <a:buNone/>
            </a:pPr>
            <a:r>
              <a:rPr lang="en-US" sz="4500" dirty="0"/>
              <a:t>4. Metrics Computed:</a:t>
            </a:r>
          </a:p>
          <a:p>
            <a:pPr lvl="2"/>
            <a:r>
              <a:rPr lang="en-US" sz="4500" dirty="0"/>
              <a:t>AUC (Train, Validation, Holdout)</a:t>
            </a:r>
          </a:p>
          <a:p>
            <a:pPr lvl="2"/>
            <a:r>
              <a:rPr lang="en-US" sz="4500" dirty="0"/>
              <a:t>Accuracy (Train, Validation, Holdout)</a:t>
            </a:r>
          </a:p>
          <a:p>
            <a:pPr marL="457200" lvl="1" indent="0">
              <a:buNone/>
            </a:pPr>
            <a:r>
              <a:rPr lang="en-US" sz="4500" dirty="0"/>
              <a:t>5. Best Model Selection: Based on highest validation AUC.</a:t>
            </a:r>
          </a:p>
          <a:p>
            <a:pPr marL="0" indent="0">
              <a:buNone/>
            </a:pPr>
            <a:r>
              <a:rPr lang="en-US" sz="4500" b="1" dirty="0"/>
              <a:t>5. Evaluation Approach</a:t>
            </a:r>
            <a:endParaRPr lang="en-US" sz="4500" dirty="0"/>
          </a:p>
          <a:p>
            <a:pPr lvl="1"/>
            <a:r>
              <a:rPr lang="en-US" sz="4500" dirty="0"/>
              <a:t>Hold-out set evaluation: Measure performance on unseen data.</a:t>
            </a:r>
          </a:p>
          <a:p>
            <a:pPr lvl="1"/>
            <a:r>
              <a:rPr lang="en-US" sz="4500" dirty="0"/>
              <a:t>Temporal evaluation: Track AUC and Accuracy over months.</a:t>
            </a:r>
          </a:p>
          <a:p>
            <a:pPr lvl="1"/>
            <a:r>
              <a:rPr lang="en-US" sz="4500" dirty="0"/>
              <a:t>Segment × Time evaluation: Check model stability across customer segments and time.</a:t>
            </a:r>
          </a:p>
          <a:p>
            <a:pPr lvl="1"/>
            <a:r>
              <a:rPr lang="en-US" sz="4500" dirty="0"/>
              <a:t>Visualization: Plots for comparison (bar plots, heatmaps, ROC, precision-recall, dashboard).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19268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4E363-1883-DF7F-67F7-23AB94E26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9C9606AF-F01F-C9C4-18FA-BC51A5C99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983"/>
            <a:ext cx="10515600" cy="759587"/>
          </a:xfrm>
        </p:spPr>
        <p:txBody>
          <a:bodyPr/>
          <a:lstStyle/>
          <a:p>
            <a:r>
              <a:rPr lang="en-US" dirty="0"/>
              <a:t>Model Comparison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CBE7D4-EC39-FA32-04A4-290DD7792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10760"/>
            <a:ext cx="4927343" cy="39319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9AC7DB-D915-A089-ADE1-1415E47F1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516" y="1310760"/>
            <a:ext cx="4927343" cy="39319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530E45-2959-4E71-9B49-5B0868E75F2C}"/>
              </a:ext>
            </a:extLst>
          </p:cNvPr>
          <p:cNvSpPr txBox="1"/>
          <p:nvPr/>
        </p:nvSpPr>
        <p:spPr>
          <a:xfrm>
            <a:off x="544945" y="5689871"/>
            <a:ext cx="985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model comparison, there is not much different between models.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353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846680-91E3-FAD1-FC3E-2FBA7E3E5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07" y="3272670"/>
            <a:ext cx="5844885" cy="34813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D1C290-01FB-C4BD-2CD0-1C9C0E72D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3272670"/>
            <a:ext cx="5844885" cy="34813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38B8597-7949-4967-09BE-B5831070A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983"/>
            <a:ext cx="10515600" cy="759587"/>
          </a:xfrm>
        </p:spPr>
        <p:txBody>
          <a:bodyPr/>
          <a:lstStyle/>
          <a:p>
            <a:r>
              <a:rPr lang="en-US" dirty="0"/>
              <a:t>Model Comparison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F8ED0AE-3F4C-9897-319B-2C695A7412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07" y="863570"/>
            <a:ext cx="7315576" cy="16828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5FD3568-00CB-6A14-5D01-DB367E5A4C9D}"/>
              </a:ext>
            </a:extLst>
          </p:cNvPr>
          <p:cNvSpPr txBox="1"/>
          <p:nvPr/>
        </p:nvSpPr>
        <p:spPr>
          <a:xfrm>
            <a:off x="7527636" y="812740"/>
            <a:ext cx="46643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Since the data is imbalance, validation AUC is preferred to evaluate model performance.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Following charts and table, </a:t>
            </a:r>
            <a:r>
              <a:rPr lang="en-US" dirty="0" err="1"/>
              <a:t>XGBoost</a:t>
            </a:r>
            <a:r>
              <a:rPr lang="en-US" dirty="0"/>
              <a:t> achieves the highest validation AUC (0.7148) compared to other models.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Thus, </a:t>
            </a:r>
            <a:r>
              <a:rPr lang="en-US" dirty="0" err="1"/>
              <a:t>XGBoost</a:t>
            </a:r>
            <a:r>
              <a:rPr lang="en-US" dirty="0"/>
              <a:t> is shown as the best model in this report. </a:t>
            </a:r>
          </a:p>
        </p:txBody>
      </p:sp>
    </p:spTree>
    <p:extLst>
      <p:ext uri="{BB962C8B-B14F-4D97-AF65-F5344CB8AC3E}">
        <p14:creationId xmlns:p14="http://schemas.microsoft.com/office/powerpoint/2010/main" val="4091592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7F7E1-DF8C-B25C-BA92-75EE09390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8A805B-0594-9D18-F9B7-9BA0D4DEF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16" y="1628394"/>
            <a:ext cx="5901754" cy="29260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2B8FCF-B1AF-EE66-3144-7B75F0C47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160" y="1628394"/>
            <a:ext cx="5885224" cy="29260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DF064D2-278F-088F-780C-DFFF16F13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983"/>
            <a:ext cx="10515600" cy="759587"/>
          </a:xfrm>
        </p:spPr>
        <p:txBody>
          <a:bodyPr/>
          <a:lstStyle/>
          <a:p>
            <a:r>
              <a:rPr lang="en-US" dirty="0"/>
              <a:t>Model Accuracy (by </a:t>
            </a:r>
            <a:r>
              <a:rPr lang="en-US" dirty="0" err="1"/>
              <a:t>Date_ym</a:t>
            </a:r>
            <a:r>
              <a:rPr lang="en-US" dirty="0"/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E27B03-1DCA-27EB-7B20-F3293C743F57}"/>
              </a:ext>
            </a:extLst>
          </p:cNvPr>
          <p:cNvSpPr txBox="1"/>
          <p:nvPr/>
        </p:nvSpPr>
        <p:spPr>
          <a:xfrm>
            <a:off x="332509" y="4891571"/>
            <a:ext cx="9855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evaluation, following the best model </a:t>
            </a:r>
            <a:r>
              <a:rPr lang="en-US" dirty="0" err="1"/>
              <a:t>XGBoost</a:t>
            </a:r>
            <a:r>
              <a:rPr lang="en-US" dirty="0"/>
              <a:t>, the highest AUC is over 0.72 in September 2022, while the lowest AUC is below 0.68 in October 2022.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evaluation, following the best model </a:t>
            </a:r>
            <a:r>
              <a:rPr lang="en-US" dirty="0" err="1"/>
              <a:t>XGBoost</a:t>
            </a:r>
            <a:r>
              <a:rPr lang="en-US" dirty="0"/>
              <a:t>, the most accuracy is nearly 0.972 in September 2022, while the least AUC is about 0.961 in February 2023.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is a difference between the lowest rate in different time due to its imbalance dataset.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259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EF66F-063F-722C-7B44-3DCF8100C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26FC1-3938-D7A4-7FFD-90D680955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983"/>
            <a:ext cx="10515600" cy="759587"/>
          </a:xfrm>
        </p:spPr>
        <p:txBody>
          <a:bodyPr/>
          <a:lstStyle/>
          <a:p>
            <a:r>
              <a:rPr lang="en-US" dirty="0"/>
              <a:t>Model Accuracy (by Segment x </a:t>
            </a:r>
            <a:r>
              <a:rPr lang="en-US" dirty="0" err="1"/>
              <a:t>Date_ym</a:t>
            </a:r>
            <a:r>
              <a:rPr lang="en-US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44D5A2-A77E-34AC-7E78-8230824FC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5" y="1124712"/>
            <a:ext cx="5949799" cy="2743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191065-B352-41CE-F8FF-414CEB776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5" y="4010817"/>
            <a:ext cx="5949799" cy="27432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34AEC9C-94C6-827B-C3DA-51C2092C0219}"/>
              </a:ext>
            </a:extLst>
          </p:cNvPr>
          <p:cNvSpPr txBox="1"/>
          <p:nvPr/>
        </p:nvSpPr>
        <p:spPr>
          <a:xfrm>
            <a:off x="6474690" y="1124712"/>
            <a:ext cx="513541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evaluation, following the best model </a:t>
            </a:r>
            <a:r>
              <a:rPr lang="en-US" dirty="0" err="1"/>
              <a:t>XGBoost</a:t>
            </a:r>
            <a:r>
              <a:rPr lang="en-US" dirty="0"/>
              <a:t>, the highest AUC (by Segment x </a:t>
            </a:r>
            <a:r>
              <a:rPr lang="en-US" dirty="0" err="1"/>
              <a:t>Date_ym</a:t>
            </a:r>
            <a:r>
              <a:rPr lang="en-US" dirty="0"/>
              <a:t>) is 0.77 with 0-500 in November 2022, while the lowest AUC (by Segment x </a:t>
            </a:r>
            <a:r>
              <a:rPr lang="en-US" dirty="0" err="1"/>
              <a:t>Date_ym</a:t>
            </a:r>
            <a:r>
              <a:rPr lang="en-US" dirty="0"/>
              <a:t>) is 0.58 with 0-500 in April 2023.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Due to the imbalance dataset, accuracy metrics is overfitting (by Segment x </a:t>
            </a:r>
            <a:r>
              <a:rPr lang="en-US" dirty="0" err="1"/>
              <a:t>Date_ym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62332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D71B4-28CC-CAD5-CFAB-13256897D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DEBA91E-56AE-8D6D-48EE-0F091FDF1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983"/>
            <a:ext cx="10515600" cy="759587"/>
          </a:xfrm>
        </p:spPr>
        <p:txBody>
          <a:bodyPr/>
          <a:lstStyle/>
          <a:p>
            <a:r>
              <a:rPr lang="en-US" dirty="0"/>
              <a:t>Model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1ADADC-97D0-3D14-9A1F-3786B9CEE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391" y="785093"/>
            <a:ext cx="9901217" cy="596892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62824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C76DB-2339-69F7-928D-212C9CE72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4FF4C-F7D0-21B5-6A6A-6C7DCEE28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E46DE-6951-DB54-26E2-D484B90A9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This approach is a multi-model, time-aware binary classification pipeline. It combines:</a:t>
            </a:r>
          </a:p>
          <a:p>
            <a:pPr lvl="1"/>
            <a:r>
              <a:rPr lang="en-US" dirty="0"/>
              <a:t>Gradient boosting models for high predictive performance</a:t>
            </a:r>
          </a:p>
          <a:p>
            <a:pPr lvl="1"/>
            <a:r>
              <a:rPr lang="en-US" dirty="0"/>
              <a:t>Linear model baseline for interpretability</a:t>
            </a:r>
          </a:p>
          <a:p>
            <a:pPr lvl="1"/>
            <a:r>
              <a:rPr lang="en-US" dirty="0"/>
              <a:t>Temporal and segment evaluation for stability and reliability</a:t>
            </a:r>
          </a:p>
          <a:p>
            <a:r>
              <a:rPr lang="en-US" sz="2400" dirty="0"/>
              <a:t>It’s a structured pipeline: data loading and merging → feature engineering → train/validation/test split → model definitions (5 models: LG, RF, HGB, LGBM, XGB) → model training → best model selection → hold-out set evaluation → metrics table → temporal evaluation (by </a:t>
            </a:r>
            <a:r>
              <a:rPr lang="en-US" sz="2400" dirty="0" err="1"/>
              <a:t>Date_ym</a:t>
            </a:r>
            <a:r>
              <a:rPr lang="en-US" sz="2400" dirty="0"/>
              <a:t>) → Segment x </a:t>
            </a:r>
            <a:r>
              <a:rPr lang="en-US" sz="2400" dirty="0" err="1"/>
              <a:t>Date_ym</a:t>
            </a:r>
            <a:r>
              <a:rPr lang="en-US" sz="2400" dirty="0"/>
              <a:t> evaluation → visualization (individual plots) &amp; dashboard → final summary.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605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713</Words>
  <Application>Microsoft Office PowerPoint</Application>
  <PresentationFormat>Widescreen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MODEL BUILDING</vt:lpstr>
      <vt:lpstr>SUMMARY</vt:lpstr>
      <vt:lpstr>MODELING APPROACH</vt:lpstr>
      <vt:lpstr>MODELING APPROACH (cont.)</vt:lpstr>
      <vt:lpstr>Model Comparison</vt:lpstr>
      <vt:lpstr>Model Comparison </vt:lpstr>
      <vt:lpstr>Model Accuracy (by Date_ym)</vt:lpstr>
      <vt:lpstr>Model Accuracy (by Segment x Date_ym)</vt:lpstr>
      <vt:lpstr>Model Dashboard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 Thu Do</dc:creator>
  <cp:lastModifiedBy>Angel Thu Do</cp:lastModifiedBy>
  <cp:revision>5</cp:revision>
  <dcterms:created xsi:type="dcterms:W3CDTF">2025-11-10T10:23:15Z</dcterms:created>
  <dcterms:modified xsi:type="dcterms:W3CDTF">2025-11-10T11:54:36Z</dcterms:modified>
</cp:coreProperties>
</file>